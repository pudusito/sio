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0202"/>
    <a:srgbClr val="F4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940" autoAdjust="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900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496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055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568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575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847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3729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804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753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9421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4246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BFFDA3-703B-5A46-AEFC-E14C30159CAC}" type="datetimeFigureOut">
              <a:rPr lang="es-ES" smtClean="0"/>
              <a:t>17/12/2025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E25F8-CB20-F449-B4F4-A964C31BB73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531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685800" y="2242831"/>
            <a:ext cx="7772400" cy="685347"/>
          </a:xfrm>
        </p:spPr>
        <p:txBody>
          <a:bodyPr/>
          <a:lstStyle/>
          <a:p>
            <a:r>
              <a:rPr lang="es-CL" sz="3600" b="1" dirty="0">
                <a:solidFill>
                  <a:srgbClr val="D40202"/>
                </a:solidFill>
                <a:latin typeface="Myriad Pro"/>
                <a:cs typeface="Myriad Pro"/>
              </a:rPr>
              <a:t>Sistema de información obstétrica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469608" y="1"/>
            <a:ext cx="1867756" cy="186775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Título 1"/>
          <p:cNvSpPr txBox="1">
            <a:spLocks/>
          </p:cNvSpPr>
          <p:nvPr/>
        </p:nvSpPr>
        <p:spPr>
          <a:xfrm>
            <a:off x="469607" y="160081"/>
            <a:ext cx="1867757" cy="7577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1400" kern="1400" dirty="0" err="1">
                <a:solidFill>
                  <a:schemeClr val="bg1"/>
                </a:solidFill>
                <a:latin typeface="Myriad Pro Light"/>
                <a:cs typeface="Myriad Pro Light"/>
              </a:rPr>
              <a:t>Tecnologias</a:t>
            </a:r>
            <a:r>
              <a:rPr lang="es-CL" sz="1400" kern="1400" dirty="0">
                <a:solidFill>
                  <a:schemeClr val="bg1"/>
                </a:solidFill>
                <a:latin typeface="Myriad Pro Light"/>
                <a:cs typeface="Myriad Pro Light"/>
              </a:rPr>
              <a:t> de información y Ciberseguridad</a:t>
            </a:r>
          </a:p>
        </p:txBody>
      </p:sp>
      <p:pic>
        <p:nvPicPr>
          <p:cNvPr id="12" name="Imagen 11" descr="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7" y="1332361"/>
            <a:ext cx="1270076" cy="342346"/>
          </a:xfrm>
          <a:prstGeom prst="rect">
            <a:avLst/>
          </a:prstGeom>
        </p:spPr>
      </p:pic>
      <p:cxnSp>
        <p:nvCxnSpPr>
          <p:cNvPr id="14" name="Conector recto 13"/>
          <p:cNvCxnSpPr/>
          <p:nvPr/>
        </p:nvCxnSpPr>
        <p:spPr>
          <a:xfrm>
            <a:off x="615294" y="1077855"/>
            <a:ext cx="1576383" cy="0"/>
          </a:xfrm>
          <a:prstGeom prst="line">
            <a:avLst/>
          </a:prstGeom>
          <a:ln w="9525" cmpd="sng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ubtítulo 2"/>
          <p:cNvSpPr>
            <a:spLocks noGrp="1"/>
          </p:cNvSpPr>
          <p:nvPr>
            <p:ph type="subTitle" idx="1"/>
          </p:nvPr>
        </p:nvSpPr>
        <p:spPr>
          <a:xfrm>
            <a:off x="1297360" y="2999756"/>
            <a:ext cx="6400800" cy="362194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ES" dirty="0">
                <a:latin typeface="Myriad Pro"/>
                <a:cs typeface="Myriad Pro"/>
              </a:rPr>
              <a:t>Hospital Herminda Martin de Chillan.</a:t>
            </a:r>
            <a:endParaRPr lang="es-CL" dirty="0">
              <a:latin typeface="Myriad Pro"/>
              <a:cs typeface="Myriad Pro"/>
            </a:endParaRPr>
          </a:p>
        </p:txBody>
      </p:sp>
      <p:sp>
        <p:nvSpPr>
          <p:cNvPr id="16" name="CuadroTexto 15"/>
          <p:cNvSpPr txBox="1"/>
          <p:nvPr/>
        </p:nvSpPr>
        <p:spPr>
          <a:xfrm>
            <a:off x="386681" y="4250807"/>
            <a:ext cx="7845940" cy="184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NOMBRES: -Benjamin </a:t>
            </a:r>
            <a:r>
              <a:rPr lang="es-CL" sz="1200" dirty="0" err="1">
                <a:latin typeface="Myriad Pro"/>
                <a:cs typeface="Myriad Pro"/>
              </a:rPr>
              <a:t>Ivan</a:t>
            </a:r>
            <a:r>
              <a:rPr lang="es-CL" sz="1200" dirty="0">
                <a:latin typeface="Myriad Pro"/>
                <a:cs typeface="Myriad Pro"/>
              </a:rPr>
              <a:t> Maldonado Barrales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		-</a:t>
            </a:r>
            <a:r>
              <a:rPr lang="es-CL" sz="1200" dirty="0" err="1">
                <a:latin typeface="Myriad Pro"/>
                <a:cs typeface="Myriad Pro"/>
              </a:rPr>
              <a:t>Victor</a:t>
            </a:r>
            <a:r>
              <a:rPr lang="es-CL" sz="1200" dirty="0">
                <a:latin typeface="Myriad Pro"/>
                <a:cs typeface="Myriad Pro"/>
              </a:rPr>
              <a:t> Bryan Riquelme Cabrera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		-Daniel Alejandro Valdebenito Jara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		-Alejandro Daniel Linares Pena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CARRERA: Técnico Analista Programador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ASIGNATURA: Proyecto Integrado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PROFESOR: Christopher  Alexander Muñoz Parra</a:t>
            </a:r>
          </a:p>
          <a:p>
            <a:pPr>
              <a:lnSpc>
                <a:spcPct val="120000"/>
              </a:lnSpc>
            </a:pPr>
            <a:r>
              <a:rPr lang="es-CL" sz="1200" dirty="0">
                <a:latin typeface="Myriad Pro"/>
                <a:cs typeface="Myriad Pro"/>
              </a:rPr>
              <a:t>FECHA: 18-12-2025</a:t>
            </a: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17AB2D7-2E33-770F-7CEC-0CA4CE14F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035" y="108756"/>
            <a:ext cx="3559975" cy="1913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9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/>
          <p:cNvSpPr>
            <a:spLocks noGrp="1"/>
          </p:cNvSpPr>
          <p:nvPr>
            <p:ph type="ctrTitle"/>
          </p:nvPr>
        </p:nvSpPr>
        <p:spPr>
          <a:xfrm>
            <a:off x="297820" y="143602"/>
            <a:ext cx="8469661" cy="685347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D40202"/>
                </a:solidFill>
                <a:latin typeface="Myriad Pro"/>
                <a:cs typeface="Myriad Pro"/>
              </a:rPr>
              <a:t>PROBLEMÁTICA</a:t>
            </a:r>
            <a:endParaRPr lang="es-CL" sz="24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pic>
        <p:nvPicPr>
          <p:cNvPr id="18" name="Imagen 17" descr="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9385AD3-1EE2-F020-6F38-192C6C136107}"/>
              </a:ext>
            </a:extLst>
          </p:cNvPr>
          <p:cNvSpPr/>
          <p:nvPr/>
        </p:nvSpPr>
        <p:spPr>
          <a:xfrm>
            <a:off x="519595" y="1556387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9718F5-C921-DE9C-493A-C8488DF14D6E}"/>
              </a:ext>
            </a:extLst>
          </p:cNvPr>
          <p:cNvSpPr/>
          <p:nvPr/>
        </p:nvSpPr>
        <p:spPr>
          <a:xfrm>
            <a:off x="519595" y="2283825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AE7E8D1-D51F-74C2-CDBF-CA06C16B4A88}"/>
              </a:ext>
            </a:extLst>
          </p:cNvPr>
          <p:cNvSpPr/>
          <p:nvPr/>
        </p:nvSpPr>
        <p:spPr>
          <a:xfrm>
            <a:off x="519595" y="3011263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61769C8-C655-6BCE-1F3E-023B14E71A82}"/>
              </a:ext>
            </a:extLst>
          </p:cNvPr>
          <p:cNvSpPr/>
          <p:nvPr/>
        </p:nvSpPr>
        <p:spPr>
          <a:xfrm>
            <a:off x="519595" y="3738701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78120ED-BA21-4D9F-3DF5-6AEC7B310EC0}"/>
              </a:ext>
            </a:extLst>
          </p:cNvPr>
          <p:cNvSpPr/>
          <p:nvPr/>
        </p:nvSpPr>
        <p:spPr>
          <a:xfrm>
            <a:off x="519595" y="4466139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E6CFD5B-0F0E-2B39-E7EB-F5EC3AA2F217}"/>
              </a:ext>
            </a:extLst>
          </p:cNvPr>
          <p:cNvSpPr/>
          <p:nvPr/>
        </p:nvSpPr>
        <p:spPr>
          <a:xfrm>
            <a:off x="519595" y="5193577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706BD8D-DE04-D080-A144-ED6D2F3C8CE8}"/>
              </a:ext>
            </a:extLst>
          </p:cNvPr>
          <p:cNvSpPr txBox="1"/>
          <p:nvPr/>
        </p:nvSpPr>
        <p:spPr>
          <a:xfrm>
            <a:off x="968188" y="1407459"/>
            <a:ext cx="8036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Uso de registros en planillas de Excel sin un formato claro y sin un sistema centralizado </a:t>
            </a:r>
          </a:p>
          <a:p>
            <a:r>
              <a:rPr lang="es-ES" sz="1600" dirty="0"/>
              <a:t>ni estandarizado.</a:t>
            </a:r>
            <a:endParaRPr lang="es-CL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AFCD9CB-1438-8513-7BE7-C42618E441B7}"/>
              </a:ext>
            </a:extLst>
          </p:cNvPr>
          <p:cNvSpPr txBox="1"/>
          <p:nvPr/>
        </p:nvSpPr>
        <p:spPr>
          <a:xfrm>
            <a:off x="968188" y="2246787"/>
            <a:ext cx="8036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Acceso lento a la información clínica y dispersión de los antecedentes.</a:t>
            </a:r>
            <a:endParaRPr lang="es-CL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43AA0E7-7005-0F1B-EC77-25D9030E0013}"/>
              </a:ext>
            </a:extLst>
          </p:cNvPr>
          <p:cNvSpPr txBox="1"/>
          <p:nvPr/>
        </p:nvSpPr>
        <p:spPr>
          <a:xfrm>
            <a:off x="968188" y="2665435"/>
            <a:ext cx="7799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600" dirty="0"/>
              <a:t>Duplicidad de datos, errores de registro y riesgo de pérdida de información.</a:t>
            </a:r>
            <a:endParaRPr lang="es-CL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B5075BB-C4B5-B348-2FD0-9E97F4742A05}"/>
              </a:ext>
            </a:extLst>
          </p:cNvPr>
          <p:cNvSpPr txBox="1"/>
          <p:nvPr/>
        </p:nvSpPr>
        <p:spPr>
          <a:xfrm>
            <a:off x="968187" y="3424664"/>
            <a:ext cx="6741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600" dirty="0"/>
              <a:t>Falta de trazabilidad sobre quién registra o modifica los datos.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881D887-8671-6ABD-255C-62927E08B0D3}"/>
              </a:ext>
            </a:extLst>
          </p:cNvPr>
          <p:cNvSpPr txBox="1"/>
          <p:nvPr/>
        </p:nvSpPr>
        <p:spPr>
          <a:xfrm>
            <a:off x="968187" y="4400974"/>
            <a:ext cx="5298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Generación de reportes manuales, poco eficientes y propensos a errores.</a:t>
            </a:r>
            <a:endParaRPr lang="es-CL" sz="16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903C259-1212-F522-C3DA-F70DE2774BB8}"/>
              </a:ext>
            </a:extLst>
          </p:cNvPr>
          <p:cNvSpPr txBox="1"/>
          <p:nvPr/>
        </p:nvSpPr>
        <p:spPr>
          <a:xfrm>
            <a:off x="968188" y="5193577"/>
            <a:ext cx="574637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Riesgos en la seguridad y confidencialidad de la información clínica.</a:t>
            </a:r>
          </a:p>
          <a:p>
            <a:endParaRPr lang="es-CL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6C74A9D-B749-0068-16F8-4B2DF583E181}"/>
              </a:ext>
            </a:extLst>
          </p:cNvPr>
          <p:cNvSpPr/>
          <p:nvPr/>
        </p:nvSpPr>
        <p:spPr>
          <a:xfrm>
            <a:off x="519595" y="5921015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40CC4AA-2AEC-D052-C3FF-B284D94EB274}"/>
              </a:ext>
            </a:extLst>
          </p:cNvPr>
          <p:cNvSpPr txBox="1"/>
          <p:nvPr/>
        </p:nvSpPr>
        <p:spPr>
          <a:xfrm>
            <a:off x="968188" y="5883977"/>
            <a:ext cx="5997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No se cuenta con conexión a internet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9164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31E2-558B-DDC6-A18A-744B0D4E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E97E61F-C6BF-0298-A340-5339AB2C3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20" y="143602"/>
            <a:ext cx="8469661" cy="685347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D40202"/>
                </a:solidFill>
                <a:latin typeface="Myriad Pro"/>
                <a:cs typeface="Myriad Pro"/>
              </a:rPr>
              <a:t>PLANIFICACIÓN</a:t>
            </a:r>
            <a:endParaRPr lang="es-CL" sz="24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pic>
        <p:nvPicPr>
          <p:cNvPr id="18" name="Imagen 17" descr="Logo.png">
            <a:extLst>
              <a:ext uri="{FF2B5EF4-FFF2-40B4-BE49-F238E27FC236}">
                <a16:creationId xmlns:a16="http://schemas.microsoft.com/office/drawing/2014/main" id="{CCB79417-862D-1248-2434-67A994A865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3C316B4-A5B8-0085-C459-8DCC96C32848}"/>
              </a:ext>
            </a:extLst>
          </p:cNvPr>
          <p:cNvSpPr/>
          <p:nvPr/>
        </p:nvSpPr>
        <p:spPr>
          <a:xfrm>
            <a:off x="521237" y="816699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BAD6499-9178-8901-F3F7-6672D9C86471}"/>
              </a:ext>
            </a:extLst>
          </p:cNvPr>
          <p:cNvSpPr/>
          <p:nvPr/>
        </p:nvSpPr>
        <p:spPr>
          <a:xfrm>
            <a:off x="521237" y="1446568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D8A8DFE-C58E-2336-933B-AE4689BF80B8}"/>
              </a:ext>
            </a:extLst>
          </p:cNvPr>
          <p:cNvSpPr/>
          <p:nvPr/>
        </p:nvSpPr>
        <p:spPr>
          <a:xfrm>
            <a:off x="519595" y="2049583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74DC4C8-4E20-ED93-B43B-AB6700D85DFF}"/>
              </a:ext>
            </a:extLst>
          </p:cNvPr>
          <p:cNvSpPr/>
          <p:nvPr/>
        </p:nvSpPr>
        <p:spPr>
          <a:xfrm>
            <a:off x="521237" y="2605459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771A89D-FD8F-CD06-2FB8-21A3EFE28B3B}"/>
              </a:ext>
            </a:extLst>
          </p:cNvPr>
          <p:cNvSpPr/>
          <p:nvPr/>
        </p:nvSpPr>
        <p:spPr>
          <a:xfrm>
            <a:off x="525844" y="3254745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117FAB5-7965-CB09-2190-10B6273E2C57}"/>
              </a:ext>
            </a:extLst>
          </p:cNvPr>
          <p:cNvSpPr/>
          <p:nvPr/>
        </p:nvSpPr>
        <p:spPr>
          <a:xfrm>
            <a:off x="525844" y="3872364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C19F70A-ACA3-5F96-D5A6-3D4F9D6279D8}"/>
              </a:ext>
            </a:extLst>
          </p:cNvPr>
          <p:cNvSpPr txBox="1"/>
          <p:nvPr/>
        </p:nvSpPr>
        <p:spPr>
          <a:xfrm>
            <a:off x="968188" y="781111"/>
            <a:ext cx="80368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Análisis de los procesos actuales de gestión de información clínica.</a:t>
            </a:r>
            <a:endParaRPr lang="es-CL" sz="16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48CEB15-6BDC-FE64-4DCC-C1B9BAC34597}"/>
              </a:ext>
            </a:extLst>
          </p:cNvPr>
          <p:cNvSpPr txBox="1"/>
          <p:nvPr/>
        </p:nvSpPr>
        <p:spPr>
          <a:xfrm>
            <a:off x="950257" y="1172399"/>
            <a:ext cx="8036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dirty="0"/>
          </a:p>
          <a:p>
            <a:r>
              <a:rPr lang="es-ES" sz="1600" dirty="0"/>
              <a:t>Definición de requerimientos funcionales y no funcionales del sistema.</a:t>
            </a:r>
            <a:endParaRPr lang="es-CL" sz="16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005F82D-E22C-6551-E449-51A0D60DF5BD}"/>
              </a:ext>
            </a:extLst>
          </p:cNvPr>
          <p:cNvSpPr txBox="1"/>
          <p:nvPr/>
        </p:nvSpPr>
        <p:spPr>
          <a:xfrm>
            <a:off x="948615" y="1731133"/>
            <a:ext cx="77992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600" dirty="0"/>
              <a:t>Diseño y elección de herramientas para el desarrollo del software.</a:t>
            </a:r>
            <a:endParaRPr lang="es-CL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A743DAA-5343-E324-FE32-14C749E230CF}"/>
              </a:ext>
            </a:extLst>
          </p:cNvPr>
          <p:cNvSpPr txBox="1"/>
          <p:nvPr/>
        </p:nvSpPr>
        <p:spPr>
          <a:xfrm>
            <a:off x="966546" y="2291422"/>
            <a:ext cx="6741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600" dirty="0"/>
              <a:t>Modelamiento de la base de datos y relaciones entre entidades clínicas.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1EB1C26-DAD3-E256-A176-770D88349A1F}"/>
              </a:ext>
            </a:extLst>
          </p:cNvPr>
          <p:cNvSpPr txBox="1"/>
          <p:nvPr/>
        </p:nvSpPr>
        <p:spPr>
          <a:xfrm>
            <a:off x="948615" y="3051778"/>
            <a:ext cx="5298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Desarrollo modular del sistema y sus funcionalidades principales.</a:t>
            </a:r>
            <a:endParaRPr lang="es-CL" sz="16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727569D-C788-3BD1-6B80-CF013591D386}"/>
              </a:ext>
            </a:extLst>
          </p:cNvPr>
          <p:cNvSpPr txBox="1"/>
          <p:nvPr/>
        </p:nvSpPr>
        <p:spPr>
          <a:xfrm>
            <a:off x="948615" y="3781356"/>
            <a:ext cx="5746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Implementación de trazabilidad en los registros y acciones de usuarios.</a:t>
            </a:r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6CB458E-D982-AFD1-0D10-81AE69DFBE99}"/>
              </a:ext>
            </a:extLst>
          </p:cNvPr>
          <p:cNvSpPr/>
          <p:nvPr/>
        </p:nvSpPr>
        <p:spPr>
          <a:xfrm>
            <a:off x="525844" y="4553140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9D1540-A5F6-ABC4-7B0F-80963EDCCDF6}"/>
              </a:ext>
            </a:extLst>
          </p:cNvPr>
          <p:cNvSpPr/>
          <p:nvPr/>
        </p:nvSpPr>
        <p:spPr>
          <a:xfrm>
            <a:off x="525844" y="5231254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F86ADBE-5335-A204-80EB-991074304A1F}"/>
              </a:ext>
            </a:extLst>
          </p:cNvPr>
          <p:cNvSpPr txBox="1"/>
          <p:nvPr/>
        </p:nvSpPr>
        <p:spPr>
          <a:xfrm>
            <a:off x="950257" y="4173880"/>
            <a:ext cx="5638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dirty="0"/>
          </a:p>
          <a:p>
            <a:r>
              <a:rPr lang="es-ES" sz="1600" dirty="0"/>
              <a:t>Automatización y visualización de reportes clínicos y administrativos.</a:t>
            </a:r>
          </a:p>
          <a:p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D4123F-1EEB-76BC-33A8-9AA91757F3D0}"/>
              </a:ext>
            </a:extLst>
          </p:cNvPr>
          <p:cNvSpPr txBox="1"/>
          <p:nvPr/>
        </p:nvSpPr>
        <p:spPr>
          <a:xfrm>
            <a:off x="929360" y="5089625"/>
            <a:ext cx="5316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Aplicación de mecanismos de seguridad, autenticación y control de accesos.</a:t>
            </a:r>
            <a:endParaRPr lang="es-CL" sz="16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358BF45-DFB4-B08D-C3E4-C6B4CA5E1E0B}"/>
              </a:ext>
            </a:extLst>
          </p:cNvPr>
          <p:cNvSpPr/>
          <p:nvPr/>
        </p:nvSpPr>
        <p:spPr>
          <a:xfrm>
            <a:off x="525844" y="5881218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9DF44B-AB6F-A4F3-3514-AFA3FD09D946}"/>
              </a:ext>
            </a:extLst>
          </p:cNvPr>
          <p:cNvSpPr txBox="1"/>
          <p:nvPr/>
        </p:nvSpPr>
        <p:spPr>
          <a:xfrm>
            <a:off x="929360" y="5881218"/>
            <a:ext cx="53967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Pruebas funcionales, validación del sistema y ajustes finales.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406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89275-70AC-E883-473F-893755CF3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A12340CD-D1E0-B776-95B1-96C8C13A8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20" y="143602"/>
            <a:ext cx="8469661" cy="685347"/>
          </a:xfrm>
        </p:spPr>
        <p:txBody>
          <a:bodyPr>
            <a:normAutofit/>
          </a:bodyPr>
          <a:lstStyle/>
          <a:p>
            <a:r>
              <a:rPr lang="es-ES" sz="2400" b="1" dirty="0">
                <a:solidFill>
                  <a:srgbClr val="D40202"/>
                </a:solidFill>
                <a:latin typeface="Myriad Pro"/>
                <a:cs typeface="Myriad Pro"/>
              </a:rPr>
              <a:t>SOLUCIÓN</a:t>
            </a:r>
            <a:endParaRPr lang="es-CL" sz="2400" b="1" dirty="0">
              <a:solidFill>
                <a:srgbClr val="D40202"/>
              </a:solidFill>
              <a:latin typeface="Myriad Pro"/>
              <a:cs typeface="Myriad Pro"/>
            </a:endParaRPr>
          </a:p>
        </p:txBody>
      </p:sp>
      <p:pic>
        <p:nvPicPr>
          <p:cNvPr id="18" name="Imagen 17" descr="Logo.png">
            <a:extLst>
              <a:ext uri="{FF2B5EF4-FFF2-40B4-BE49-F238E27FC236}">
                <a16:creationId xmlns:a16="http://schemas.microsoft.com/office/drawing/2014/main" id="{52D06C59-8DE8-F52E-BD88-E9A0D8A9C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221" y="6499599"/>
            <a:ext cx="924848" cy="24964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D952BC9C-0C55-48A7-F080-29D2E67A5E57}"/>
              </a:ext>
            </a:extLst>
          </p:cNvPr>
          <p:cNvSpPr/>
          <p:nvPr/>
        </p:nvSpPr>
        <p:spPr>
          <a:xfrm>
            <a:off x="519595" y="2283825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937E2F-BA9D-6379-1703-3D140E6AE0AD}"/>
              </a:ext>
            </a:extLst>
          </p:cNvPr>
          <p:cNvSpPr/>
          <p:nvPr/>
        </p:nvSpPr>
        <p:spPr>
          <a:xfrm>
            <a:off x="519595" y="3011263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42D24D2-4FE9-2CC2-630D-47B79B967F81}"/>
              </a:ext>
            </a:extLst>
          </p:cNvPr>
          <p:cNvSpPr/>
          <p:nvPr/>
        </p:nvSpPr>
        <p:spPr>
          <a:xfrm>
            <a:off x="519595" y="3738701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6774EB-7E85-773B-0372-ED82EF9BAAC8}"/>
              </a:ext>
            </a:extLst>
          </p:cNvPr>
          <p:cNvSpPr/>
          <p:nvPr/>
        </p:nvSpPr>
        <p:spPr>
          <a:xfrm>
            <a:off x="519595" y="4466139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7502093-E5F1-E9F3-90BF-D9C9E2AACCFF}"/>
              </a:ext>
            </a:extLst>
          </p:cNvPr>
          <p:cNvSpPr/>
          <p:nvPr/>
        </p:nvSpPr>
        <p:spPr>
          <a:xfrm>
            <a:off x="519595" y="5193577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0ED9FD8-85C9-FBF1-ED9F-DFB067F88C54}"/>
              </a:ext>
            </a:extLst>
          </p:cNvPr>
          <p:cNvSpPr txBox="1"/>
          <p:nvPr/>
        </p:nvSpPr>
        <p:spPr>
          <a:xfrm>
            <a:off x="730600" y="942438"/>
            <a:ext cx="803688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s-ES" sz="1600" dirty="0"/>
          </a:p>
          <a:p>
            <a:pPr algn="ctr"/>
            <a:r>
              <a:rPr lang="es-ES" dirty="0"/>
              <a:t>Implementación de un sistema web centralizado y estandarizado </a:t>
            </a:r>
          </a:p>
          <a:p>
            <a:pPr algn="ctr"/>
            <a:r>
              <a:rPr lang="es-ES" dirty="0"/>
              <a:t>para el registro clínico</a:t>
            </a:r>
            <a:r>
              <a:rPr lang="es-ES" sz="1600" dirty="0"/>
              <a:t>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390FFEC-1468-560F-CCCC-216323969A66}"/>
              </a:ext>
            </a:extLst>
          </p:cNvPr>
          <p:cNvSpPr txBox="1"/>
          <p:nvPr/>
        </p:nvSpPr>
        <p:spPr>
          <a:xfrm>
            <a:off x="968188" y="2021256"/>
            <a:ext cx="8036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1600" dirty="0"/>
          </a:p>
          <a:p>
            <a:r>
              <a:rPr lang="es-ES" sz="1600" dirty="0"/>
              <a:t>Acceso rápido, eficiente y organizado para la información clínica desde una única plataforma.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B09263B-D528-0353-A81B-D6889EB9D258}"/>
              </a:ext>
            </a:extLst>
          </p:cNvPr>
          <p:cNvSpPr txBox="1"/>
          <p:nvPr/>
        </p:nvSpPr>
        <p:spPr>
          <a:xfrm>
            <a:off x="968187" y="2977142"/>
            <a:ext cx="7799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Reducción de errores y eliminación de duplicidad mediante registros estructurados y validados.</a:t>
            </a:r>
            <a:endParaRPr lang="es-CL" sz="1600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94B97F3-3F54-596D-5376-CA6F8F7628EE}"/>
              </a:ext>
            </a:extLst>
          </p:cNvPr>
          <p:cNvSpPr txBox="1"/>
          <p:nvPr/>
        </p:nvSpPr>
        <p:spPr>
          <a:xfrm>
            <a:off x="968187" y="3424664"/>
            <a:ext cx="674145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  <a:p>
            <a:r>
              <a:rPr lang="es-ES" sz="1600" dirty="0"/>
              <a:t>Trazabilidad completa de registros y modificaciones realizadas por los usuarios.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3523011-23E9-AEE5-0228-7B5C7CDEBA49}"/>
              </a:ext>
            </a:extLst>
          </p:cNvPr>
          <p:cNvSpPr txBox="1"/>
          <p:nvPr/>
        </p:nvSpPr>
        <p:spPr>
          <a:xfrm>
            <a:off x="968187" y="4400974"/>
            <a:ext cx="5298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Generación automática y visualización de reportes clínicos,</a:t>
            </a:r>
          </a:p>
          <a:p>
            <a:r>
              <a:rPr lang="es-ES" sz="1600" dirty="0"/>
              <a:t>y administrativos.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92156BF-C46E-3BE9-4DCD-BC5E98A3EFDC}"/>
              </a:ext>
            </a:extLst>
          </p:cNvPr>
          <p:cNvSpPr txBox="1"/>
          <p:nvPr/>
        </p:nvSpPr>
        <p:spPr>
          <a:xfrm>
            <a:off x="968187" y="5051947"/>
            <a:ext cx="5746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Protección de la información clínica mediante controles de acceso y seguridad.</a:t>
            </a:r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30F2986-9CCC-9B47-EBA5-28FFA637C4F0}"/>
              </a:ext>
            </a:extLst>
          </p:cNvPr>
          <p:cNvSpPr/>
          <p:nvPr/>
        </p:nvSpPr>
        <p:spPr>
          <a:xfrm>
            <a:off x="521237" y="5915562"/>
            <a:ext cx="301516" cy="301516"/>
          </a:xfrm>
          <a:prstGeom prst="rect">
            <a:avLst/>
          </a:prstGeom>
          <a:solidFill>
            <a:srgbClr val="D40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3957A5F-791D-FC37-F4FD-815E50795F16}"/>
              </a:ext>
            </a:extLst>
          </p:cNvPr>
          <p:cNvSpPr txBox="1"/>
          <p:nvPr/>
        </p:nvSpPr>
        <p:spPr>
          <a:xfrm>
            <a:off x="968187" y="5847746"/>
            <a:ext cx="6355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No requiere conexión a internet para funcionar</a:t>
            </a:r>
            <a:r>
              <a:rPr lang="es-ES" dirty="0"/>
              <a:t>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8711599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328</Words>
  <Application>Microsoft Office PowerPoint</Application>
  <PresentationFormat>Presentación en pantalla (4:3)</PresentationFormat>
  <Paragraphs>49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Myriad Pro</vt:lpstr>
      <vt:lpstr>Myriad Pro Light</vt:lpstr>
      <vt:lpstr>Tema de Office</vt:lpstr>
      <vt:lpstr>Sistema de información obstétrica</vt:lpstr>
      <vt:lpstr>PROBLEMÁTICA</vt:lpstr>
      <vt:lpstr>PLANIFICACIÓN</vt:lpstr>
      <vt:lpstr>SOLUCIÓN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de la Presentación</dc:title>
  <dc:creator>agencia</dc:creator>
  <cp:lastModifiedBy>BENJAMIN IVAN MALDONADO BARRALES</cp:lastModifiedBy>
  <cp:revision>9</cp:revision>
  <dcterms:created xsi:type="dcterms:W3CDTF">2015-06-26T15:52:47Z</dcterms:created>
  <dcterms:modified xsi:type="dcterms:W3CDTF">2025-12-17T05:56:37Z</dcterms:modified>
</cp:coreProperties>
</file>